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8"/>
  </p:normalViewPr>
  <p:slideViewPr>
    <p:cSldViewPr snapToGrid="0" snapToObjects="1">
      <p:cViewPr varScale="1">
        <p:scale>
          <a:sx n="117" d="100"/>
          <a:sy n="117" d="100"/>
        </p:scale>
        <p:origin x="2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43A44B-8113-5943-BE33-A4FC5AB5CC93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67F12-8860-AB4C-BAA3-9C5A2DFA4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1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67F12-8860-AB4C-BAA3-9C5A2DFA43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6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67F12-8860-AB4C-BAA3-9C5A2DFA43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35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67F12-8860-AB4C-BAA3-9C5A2DFA43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95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67F12-8860-AB4C-BAA3-9C5A2DFA43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10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10.png"/><Relationship Id="rId9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9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94000"/>
                </a:srgbClr>
              </a:gs>
              <a:gs pos="50000">
                <a:srgbClr val="1761A7">
                  <a:alpha val="88000"/>
                </a:srgbClr>
              </a:gs>
              <a:gs pos="100000">
                <a:srgbClr val="0F172A">
                  <a:alpha val="94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33" y="885825"/>
            <a:ext cx="2733606" cy="447675"/>
          </a:xfrm>
          <a:prstGeom prst="roundRect">
            <a:avLst>
              <a:gd name="adj" fmla="val 42548936"/>
            </a:avLst>
          </a:prstGeom>
          <a:solidFill>
            <a:srgbClr val="FF862F">
              <a:alpha val="15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377" y="981074"/>
            <a:ext cx="223831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862F"/>
                </a:solidFill>
                <a:latin typeface="Inter"/>
              </a:rPr>
              <a:t>NLP COURSE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1866899"/>
            <a:ext cx="6457788" cy="647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1040"/>
              </a:spcAft>
            </a:pPr>
            <a:r>
              <a:rPr sz="4066" b="1">
                <a:solidFill>
                  <a:srgbClr val="FFFFFF"/>
                </a:solidFill>
                <a:latin typeface="Poppins"/>
              </a:rPr>
              <a:t>EduVerse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667000"/>
            <a:ext cx="6457788" cy="742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070"/>
              </a:lnSpc>
              <a:spcBef>
                <a:spcPts val="0"/>
              </a:spcBef>
              <a:spcAft>
                <a:spcPts val="2080"/>
              </a:spcAft>
            </a:pPr>
            <a:r>
              <a:rPr sz="3109" b="1">
                <a:solidFill>
                  <a:srgbClr val="37DCF2"/>
                </a:solidFill>
                <a:latin typeface="Poppins"/>
              </a:rPr>
              <a:t>USA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714750"/>
            <a:ext cx="645778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CBD5E1"/>
                </a:solidFill>
                <a:latin typeface="Inter"/>
              </a:rPr>
              <a:t>AI-Powered Study Assistant for International 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33" y="4552949"/>
            <a:ext cx="761980" cy="38100"/>
          </a:xfrm>
          <a:prstGeom prst="rect">
            <a:avLst/>
          </a:prstGeom>
          <a:gradFill rotWithShape="1">
            <a:gsLst>
              <a:gs pos="0">
                <a:srgbClr val="FF862F"/>
              </a:gs>
              <a:gs pos="100000">
                <a:srgbClr val="37DCF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81110" y="4429125"/>
            <a:ext cx="139061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University UCP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5095874"/>
            <a:ext cx="6457788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5425586"/>
            <a:ext cx="304792" cy="2168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6318" y="5248275"/>
            <a:ext cx="28288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5476875"/>
            <a:ext cx="282885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</a:rPr>
              <a:t>Muhammad Zafar UL Haq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512" y="1295399"/>
            <a:ext cx="4019449" cy="1438274"/>
          </a:xfrm>
          <a:prstGeom prst="roundRect">
            <a:avLst>
              <a:gd name="adj" fmla="val 21192"/>
            </a:avLst>
          </a:prstGeom>
          <a:solidFill>
            <a:srgbClr val="FF862F">
              <a:alpha val="10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3156" y="1543050"/>
            <a:ext cx="1581110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862F"/>
                </a:solidFill>
                <a:latin typeface="Poppin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3156" y="2076449"/>
            <a:ext cx="158111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</a:rPr>
              <a:t>Jupyter Notebooks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67733" y="1687068"/>
            <a:ext cx="609584" cy="51206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753156" y="2447924"/>
            <a:ext cx="3524161" cy="38100"/>
          </a:xfrm>
          <a:prstGeom prst="rect">
            <a:avLst/>
          </a:prstGeom>
          <a:solidFill>
            <a:srgbClr val="FF862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05512" y="2638425"/>
            <a:ext cx="4019449" cy="1438274"/>
          </a:xfrm>
          <a:prstGeom prst="roundRect">
            <a:avLst>
              <a:gd name="adj" fmla="val 21192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53156" y="3171825"/>
            <a:ext cx="1019149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37DCF2"/>
                </a:solidFill>
                <a:latin typeface="Poppi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3156" y="3705224"/>
            <a:ext cx="101914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</a:rPr>
              <a:t>Python Files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67733" y="3403854"/>
            <a:ext cx="609584" cy="31699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753156" y="4076699"/>
            <a:ext cx="3524161" cy="38100"/>
          </a:xfrm>
          <a:prstGeom prst="rect">
            <a:avLst/>
          </a:prstGeom>
          <a:solidFill>
            <a:srgbClr val="37DCF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05512" y="4552949"/>
            <a:ext cx="4019449" cy="1009649"/>
          </a:xfrm>
          <a:prstGeom prst="roundRect">
            <a:avLst>
              <a:gd name="adj" fmla="val 3018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3156" y="4883317"/>
            <a:ext cx="457188" cy="3489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24641" y="4800600"/>
            <a:ext cx="110487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AI-Powered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4641" y="5086350"/>
            <a:ext cx="11048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Chatbot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20129" y="4868277"/>
            <a:ext cx="457188" cy="37899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6E04BE7-F600-A6E5-9D2E-980F4016E1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2835" y="233280"/>
            <a:ext cx="7522646" cy="60477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7699"/>
          </a:xfrm>
          <a:prstGeom prst="rect">
            <a:avLst/>
          </a:prstGeom>
          <a:solidFill>
            <a:srgbClr val="FF862F">
              <a:alpha val="8000"/>
            </a:srgbClr>
          </a:solidFill>
          <a:ln w="24765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244673"/>
            <a:ext cx="380990" cy="291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71" y="104775"/>
            <a:ext cx="330509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0959" y="171450"/>
            <a:ext cx="1981150" cy="447675"/>
          </a:xfrm>
          <a:prstGeom prst="roundRect">
            <a:avLst>
              <a:gd name="adj" fmla="val 42548936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0504" y="301942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15297" y="266699"/>
            <a:ext cx="125726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Inter"/>
              </a:rPr>
              <a:t>University UCP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" y="828675"/>
            <a:ext cx="76198" cy="457200"/>
          </a:xfrm>
          <a:prstGeom prst="rect">
            <a:avLst/>
          </a:prstGeom>
          <a:gradFill rotWithShape="1">
            <a:gsLst>
              <a:gs pos="0">
                <a:srgbClr val="FF862F"/>
              </a:gs>
              <a:gs pos="100000">
                <a:srgbClr val="37DCF2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179" y="647699"/>
            <a:ext cx="2438339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</a:rPr>
              <a:t>EduVerse 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179" y="1200150"/>
            <a:ext cx="243833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</a:rPr>
              <a:t>AI-Powered Study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179" y="1619250"/>
            <a:ext cx="4648083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Helping international students navigate U.S. university admissions with intelligent guidance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079" y="2321702"/>
            <a:ext cx="266693" cy="22611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38179" y="3067050"/>
            <a:ext cx="4648083" cy="876299"/>
          </a:xfrm>
          <a:prstGeom prst="roundRect">
            <a:avLst>
              <a:gd name="adj" fmla="val 2608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466070" y="3439159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674" y="3286539"/>
            <a:ext cx="266693" cy="2087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47763" y="3219449"/>
            <a:ext cx="205734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 dirty="0">
                <a:solidFill>
                  <a:srgbClr val="FFFFFF"/>
                </a:solidFill>
                <a:latin typeface="Inter"/>
              </a:rPr>
              <a:t>University Admissions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763" y="3543300"/>
            <a:ext cx="2057348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Requirements &amp; Deadlines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179" y="4095749"/>
            <a:ext cx="4648083" cy="876299"/>
          </a:xfrm>
          <a:prstGeom prst="roundRect">
            <a:avLst>
              <a:gd name="adj" fmla="val 2608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466070" y="4467858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8674" y="4331183"/>
            <a:ext cx="266693" cy="17683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7763" y="4248150"/>
            <a:ext cx="176208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SOP Writing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763" y="4572000"/>
            <a:ext cx="1762080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Essay Guidance &amp; Tips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179" y="5124449"/>
            <a:ext cx="4648083" cy="876299"/>
          </a:xfrm>
          <a:prstGeom prst="roundRect">
            <a:avLst>
              <a:gd name="adj" fmla="val 2608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66070" y="5496558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8674" y="5352635"/>
            <a:ext cx="266693" cy="1913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47763" y="5276850"/>
            <a:ext cx="187637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Scholarships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7763" y="5600700"/>
            <a:ext cx="1876378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Funding &amp; Opportunities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179" y="6038848"/>
            <a:ext cx="4648083" cy="876299"/>
          </a:xfrm>
          <a:prstGeom prst="roundRect">
            <a:avLst>
              <a:gd name="adj" fmla="val 2608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47033" y="6434771"/>
            <a:ext cx="714375" cy="13208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28674" y="6354417"/>
            <a:ext cx="266693" cy="2261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7763" y="6296024"/>
            <a:ext cx="210497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Test Preparation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7763" y="6619875"/>
            <a:ext cx="2104972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GRE, TOEFL, IELTS Support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05432" y="1408825"/>
            <a:ext cx="285742" cy="230349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705432" y="1933574"/>
            <a:ext cx="4876678" cy="981074"/>
          </a:xfrm>
          <a:prstGeom prst="roundRect">
            <a:avLst>
              <a:gd name="adj" fmla="val 31067"/>
            </a:avLst>
          </a:prstGeom>
          <a:solidFill>
            <a:srgbClr val="FF862F">
              <a:alpha val="8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914977" y="21526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29274" y="2310911"/>
            <a:ext cx="304792" cy="2168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00759" y="2143125"/>
            <a:ext cx="194305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React + TypeScript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0759" y="2457450"/>
            <a:ext cx="194305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Frontend Framework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29674" y="2298152"/>
            <a:ext cx="342891" cy="24239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705432" y="3067050"/>
            <a:ext cx="4876678" cy="981074"/>
          </a:xfrm>
          <a:prstGeom prst="roundRect">
            <a:avLst>
              <a:gd name="adj" fmla="val 31067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914977" y="3286125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29274" y="3444386"/>
            <a:ext cx="304792" cy="2168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600759" y="3276599"/>
            <a:ext cx="128584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Supabase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0759" y="3590924"/>
            <a:ext cx="1285842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Database &amp; Auth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029674" y="3431627"/>
            <a:ext cx="342891" cy="24239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705432" y="4190999"/>
            <a:ext cx="4876678" cy="981074"/>
          </a:xfrm>
          <a:prstGeom prst="roundRect">
            <a:avLst>
              <a:gd name="adj" fmla="val 31067"/>
            </a:avLst>
          </a:prstGeom>
          <a:solidFill>
            <a:srgbClr val="FF862F">
              <a:alpha val="8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914977" y="44196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029274" y="4569069"/>
            <a:ext cx="304792" cy="23446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600759" y="4400550"/>
            <a:ext cx="177160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00759" y="4714875"/>
            <a:ext cx="1771605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Large Language Model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29674" y="4565102"/>
            <a:ext cx="342891" cy="242394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705432" y="5400675"/>
            <a:ext cx="4876678" cy="933449"/>
          </a:xfrm>
          <a:prstGeom prst="roundRect">
            <a:avLst>
              <a:gd name="adj" fmla="val 32653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914977" y="5771735"/>
            <a:ext cx="266693" cy="1913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95967" y="5610224"/>
            <a:ext cx="269550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Loveable Cloud Development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95967" y="5895974"/>
            <a:ext cx="269550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React Frontend + Supabase Backend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91575" y="58293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143971" y="58293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1296367" y="58293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73633"/>
            <a:ext cx="12115495" cy="556918"/>
          </a:xfrm>
          <a:prstGeom prst="rect">
            <a:avLst/>
          </a:prstGeom>
          <a:solidFill>
            <a:srgbClr val="FF862F">
              <a:alpha val="8000"/>
            </a:srgbClr>
          </a:solidFill>
          <a:ln w="24765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307565"/>
            <a:ext cx="380990" cy="165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71" y="104775"/>
            <a:ext cx="372418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Jupyter Notebooks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1475" y="171450"/>
            <a:ext cx="1590635" cy="447675"/>
          </a:xfrm>
          <a:prstGeom prst="roundRect">
            <a:avLst>
              <a:gd name="adj" fmla="val 42548936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1019" y="307657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05812" y="266699"/>
            <a:ext cx="86675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Inter"/>
              </a:rPr>
              <a:t>6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706459"/>
            <a:ext cx="3406638" cy="4349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 dirty="0">
                <a:solidFill>
                  <a:srgbClr val="FFFFFF"/>
                </a:solidFill>
                <a:latin typeface="Poppins"/>
              </a:rPr>
              <a:t>NLP Pipeline Implementation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1123949"/>
            <a:ext cx="4876678" cy="914400"/>
          </a:xfrm>
          <a:prstGeom prst="roundRect">
            <a:avLst>
              <a:gd name="adj" fmla="val 25000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34934" y="1498599"/>
            <a:ext cx="9144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9604" y="1276350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FF862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1525" y="1314450"/>
            <a:ext cx="952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Poppins"/>
              </a:rPr>
              <a:t>1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1090" y="1320164"/>
            <a:ext cx="228594" cy="2171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85882" y="1276350"/>
            <a:ext cx="198115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Text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1090" y="1619250"/>
            <a:ext cx="395277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</a:rPr>
              <a:t>Cleaning, tokenization, lemmatization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2152650"/>
            <a:ext cx="4876678" cy="9144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34934" y="2527300"/>
            <a:ext cx="9144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9604" y="2305049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2476" y="2343150"/>
            <a:ext cx="13334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Poppins"/>
              </a:rPr>
              <a:t>2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1090" y="236029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85882" y="2305049"/>
            <a:ext cx="204782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Intent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1090" y="2647949"/>
            <a:ext cx="395277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</a:rPr>
              <a:t>TF-IDF + Logistic Regression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3181350"/>
            <a:ext cx="4876678" cy="914400"/>
          </a:xfrm>
          <a:prstGeom prst="roundRect">
            <a:avLst>
              <a:gd name="adj" fmla="val 25000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234934" y="3556000"/>
            <a:ext cx="9144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9604" y="3333749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FF862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2476" y="3371850"/>
            <a:ext cx="14287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Poppins"/>
              </a:rPr>
              <a:t>3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1090" y="3403282"/>
            <a:ext cx="228594" cy="16573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85882" y="3333749"/>
            <a:ext cx="264788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Named Entity Recognition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1090" y="3676649"/>
            <a:ext cx="395277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</a:rPr>
              <a:t>Rule-based NER with regex &amp; gazetteers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584" y="4210049"/>
            <a:ext cx="4876678" cy="9144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234934" y="4584699"/>
            <a:ext cx="9144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09604" y="4362450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2951" y="4400550"/>
            <a:ext cx="16192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Poppins"/>
              </a:rPr>
              <a:t>4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81090" y="4426267"/>
            <a:ext cx="228594" cy="1771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85882" y="4362450"/>
            <a:ext cx="220974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Context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1090" y="4705350"/>
            <a:ext cx="395277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</a:rPr>
              <a:t>Dialogue state tracking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" y="5238749"/>
            <a:ext cx="4876678" cy="914400"/>
          </a:xfrm>
          <a:prstGeom prst="roundRect">
            <a:avLst>
              <a:gd name="adj" fmla="val 25000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234934" y="5613399"/>
            <a:ext cx="9144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09604" y="5391150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FF862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2951" y="5429250"/>
            <a:ext cx="15239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Poppins"/>
              </a:rPr>
              <a:t>5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81090" y="5456396"/>
            <a:ext cx="228594" cy="17430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85882" y="5391150"/>
            <a:ext cx="139061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RAG Retrieval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1090" y="5734050"/>
            <a:ext cx="395277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</a:rPr>
              <a:t>Retrieval-Augmented Generation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8423" y="6059329"/>
            <a:ext cx="4876678" cy="914400"/>
          </a:xfrm>
          <a:prstGeom prst="roundRect">
            <a:avLst>
              <a:gd name="adj" fmla="val 25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224264" y="6451600"/>
            <a:ext cx="9144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09604" y="6419850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2951" y="6457950"/>
            <a:ext cx="14287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Poppins"/>
              </a:rPr>
              <a:t>6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81090" y="6475094"/>
            <a:ext cx="228594" cy="19430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85882" y="6419850"/>
            <a:ext cx="219069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Response Generation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1090" y="6624637"/>
            <a:ext cx="395277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94A3B8"/>
                </a:solidFill>
                <a:latin typeface="Inter"/>
              </a:rPr>
              <a:t>Response composition techniques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05432" y="1143000"/>
            <a:ext cx="487667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300"/>
              </a:spcAft>
            </a:pPr>
            <a:r>
              <a:rPr sz="1554" b="1">
                <a:solidFill>
                  <a:srgbClr val="FFFFFF"/>
                </a:solidFill>
                <a:latin typeface="Poppins"/>
              </a:rPr>
              <a:t>  Implementation Preview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5432" y="1143000"/>
            <a:ext cx="76198" cy="380999"/>
          </a:xfrm>
          <a:prstGeom prst="rect">
            <a:avLst/>
          </a:prstGeom>
          <a:gradFill rotWithShape="1">
            <a:gsLst>
              <a:gs pos="0">
                <a:srgbClr val="37DCF2"/>
              </a:gs>
              <a:gs pos="100000">
                <a:srgbClr val="FF862F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705432" y="5581649"/>
            <a:ext cx="4876678" cy="933449"/>
          </a:xfrm>
          <a:prstGeom prst="roundRect">
            <a:avLst>
              <a:gd name="adj" fmla="val 32653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14977" y="5928946"/>
            <a:ext cx="304792" cy="25790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334066" y="5791200"/>
            <a:ext cx="324794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Complete Pipeline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4066" y="6076950"/>
            <a:ext cx="324794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From Preprocessing to Response Generation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77278" y="60007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11067773" y="60007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1258268" y="60007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F044348-5B39-9357-6665-3C6711CBEB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4977" y="1577068"/>
            <a:ext cx="4544669" cy="364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37DCF2">
              <a:alpha val="8000"/>
            </a:srgbClr>
          </a:solidFill>
          <a:ln w="2476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289321"/>
            <a:ext cx="380990" cy="202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71" y="104775"/>
            <a:ext cx="235261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Python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86682" y="171450"/>
            <a:ext cx="1895427" cy="447675"/>
          </a:xfrm>
          <a:prstGeom prst="roundRect">
            <a:avLst>
              <a:gd name="adj" fmla="val 42548936"/>
            </a:avLst>
          </a:prstGeom>
          <a:solidFill>
            <a:srgbClr val="FF862F">
              <a:alpha val="10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6227" y="293370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01019" y="235115"/>
            <a:ext cx="942822" cy="320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b="1" dirty="0">
                <a:solidFill>
                  <a:srgbClr val="37DCF2"/>
                </a:solidFill>
                <a:latin typeface="Inter"/>
              </a:rPr>
              <a:t>6</a:t>
            </a:r>
            <a:r>
              <a:rPr sz="1076" b="1" dirty="0">
                <a:solidFill>
                  <a:srgbClr val="37DCF2"/>
                </a:solidFill>
                <a:latin typeface="Inter"/>
              </a:rPr>
              <a:t> Python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1504950"/>
            <a:ext cx="487667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FFFFFF"/>
                </a:solidFill>
                <a:latin typeface="Poppins"/>
              </a:rPr>
              <a:t>  File Structure 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1523999"/>
            <a:ext cx="76198" cy="380999"/>
          </a:xfrm>
          <a:prstGeom prst="rect">
            <a:avLst/>
          </a:prstGeom>
          <a:gradFill rotWithShape="1">
            <a:gsLst>
              <a:gs pos="0">
                <a:srgbClr val="FF862F"/>
              </a:gs>
              <a:gs pos="100000">
                <a:srgbClr val="37DCF2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584" y="2133599"/>
            <a:ext cx="4876678" cy="1333500"/>
          </a:xfrm>
          <a:prstGeom prst="roundRect">
            <a:avLst>
              <a:gd name="adj" fmla="val 22857"/>
            </a:avLst>
          </a:prstGeom>
          <a:solidFill>
            <a:srgbClr val="FF862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5384" y="2717799"/>
            <a:ext cx="13335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7703" y="2324100"/>
            <a:ext cx="495287" cy="495299"/>
          </a:xfrm>
          <a:prstGeom prst="roundRect">
            <a:avLst>
              <a:gd name="adj" fmla="val 46153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951" y="2442796"/>
            <a:ext cx="304792" cy="2579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95387" y="2324100"/>
            <a:ext cx="380037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Inter"/>
              </a:rPr>
              <a:t>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5387" y="2705099"/>
            <a:ext cx="3800379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Text cleaning, tokenization, lemmatization using </a:t>
            </a:r>
            <a:r>
              <a:rPr sz="1196" b="1">
                <a:solidFill>
                  <a:srgbClr val="FF862F"/>
                </a:solidFill>
                <a:latin typeface="Inter"/>
              </a:rPr>
              <a:t>NLTK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619499"/>
            <a:ext cx="4876678" cy="1333500"/>
          </a:xfrm>
          <a:prstGeom prst="roundRect">
            <a:avLst>
              <a:gd name="adj" fmla="val 22857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5384" y="4203699"/>
            <a:ext cx="13335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7703" y="3809999"/>
            <a:ext cx="495287" cy="495299"/>
          </a:xfrm>
          <a:prstGeom prst="roundRect">
            <a:avLst>
              <a:gd name="adj" fmla="val 4615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2951" y="3928696"/>
            <a:ext cx="304792" cy="2579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95387" y="3809999"/>
            <a:ext cx="380037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Inter"/>
              </a:rPr>
              <a:t>intent_classification.py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5387" y="4190999"/>
            <a:ext cx="3800379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TF-IDF + Logistic Regression using </a:t>
            </a:r>
            <a:r>
              <a:rPr sz="1196" b="1">
                <a:solidFill>
                  <a:srgbClr val="37DCF2"/>
                </a:solidFill>
                <a:latin typeface="Inter"/>
              </a:rPr>
              <a:t>Scikit-learn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5105400"/>
            <a:ext cx="4876678" cy="1047749"/>
          </a:xfrm>
          <a:prstGeom prst="roundRect">
            <a:avLst>
              <a:gd name="adj" fmla="val 29090"/>
            </a:avLst>
          </a:prstGeom>
          <a:solidFill>
            <a:srgbClr val="FF862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168260" y="5546724"/>
            <a:ext cx="104774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7703" y="5295899"/>
            <a:ext cx="495287" cy="495299"/>
          </a:xfrm>
          <a:prstGeom prst="roundRect">
            <a:avLst>
              <a:gd name="adj" fmla="val 46153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951" y="5414596"/>
            <a:ext cx="304792" cy="2579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95387" y="5295899"/>
            <a:ext cx="380037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Inter"/>
              </a:rPr>
              <a:t>ner.py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5387" y="5676900"/>
            <a:ext cx="380037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Named Entity Recognition using </a:t>
            </a:r>
            <a:r>
              <a:rPr sz="1196" b="1">
                <a:solidFill>
                  <a:srgbClr val="FF862F"/>
                </a:solidFill>
                <a:latin typeface="Inter"/>
              </a:rPr>
              <a:t>SpaCy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432" y="1104900"/>
            <a:ext cx="487667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FFFFFF"/>
                </a:solidFill>
                <a:latin typeface="Poppins"/>
              </a:rPr>
              <a:t>  Key NLP Concepts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05432" y="1114425"/>
            <a:ext cx="76198" cy="380999"/>
          </a:xfrm>
          <a:prstGeom prst="rect">
            <a:avLst/>
          </a:prstGeom>
          <a:gradFill rotWithShape="1">
            <a:gsLst>
              <a:gs pos="0">
                <a:srgbClr val="37DCF2"/>
              </a:gs>
              <a:gs pos="100000">
                <a:srgbClr val="FF862F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705432" y="1695449"/>
            <a:ext cx="2362140" cy="1447800"/>
          </a:xfrm>
          <a:prstGeom prst="roundRect">
            <a:avLst>
              <a:gd name="adj" fmla="val 15789"/>
            </a:avLst>
          </a:prstGeom>
          <a:solidFill>
            <a:srgbClr val="FF862F">
              <a:alpha val="10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6007" y="1934765"/>
            <a:ext cx="380990" cy="3214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53076" y="2362199"/>
            <a:ext cx="186685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Intent Classification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3116" y="2686050"/>
            <a:ext cx="1066773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Query type 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19969" y="1695449"/>
            <a:ext cx="2362140" cy="1447800"/>
          </a:xfrm>
          <a:prstGeom prst="roundRect">
            <a:avLst>
              <a:gd name="adj" fmla="val 15789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10544" y="1961554"/>
            <a:ext cx="380990" cy="2678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10544" y="2362199"/>
            <a:ext cx="39051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2405" y="2686050"/>
            <a:ext cx="1266793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Entity extraction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05432" y="3295650"/>
            <a:ext cx="2362140" cy="1733550"/>
          </a:xfrm>
          <a:prstGeom prst="roundRect">
            <a:avLst>
              <a:gd name="adj" fmla="val 13186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96007" y="3549848"/>
            <a:ext cx="380990" cy="29170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14977" y="3962399"/>
            <a:ext cx="194305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Context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43571" y="4572000"/>
            <a:ext cx="1485862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Multi-turn dialogue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9969" y="3295650"/>
            <a:ext cx="2362140" cy="1733550"/>
          </a:xfrm>
          <a:prstGeom prst="roundRect">
            <a:avLst>
              <a:gd name="adj" fmla="val 13186"/>
            </a:avLst>
          </a:prstGeom>
          <a:solidFill>
            <a:srgbClr val="FF862F">
              <a:alpha val="10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10544" y="3526035"/>
            <a:ext cx="380990" cy="3393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15237" y="3962399"/>
            <a:ext cx="176208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Domain Restriction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0959" y="4286250"/>
            <a:ext cx="1609684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Inter"/>
              </a:rPr>
              <a:t>U.S. education focus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05432" y="5248275"/>
            <a:ext cx="4876678" cy="1314450"/>
          </a:xfrm>
          <a:prstGeom prst="roundRect">
            <a:avLst>
              <a:gd name="adj" fmla="val 23188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14977" y="5537688"/>
            <a:ext cx="304792" cy="16412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4066" y="5457825"/>
            <a:ext cx="147633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Libraries Used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14977" y="5924549"/>
            <a:ext cx="857228" cy="428625"/>
          </a:xfrm>
          <a:prstGeom prst="roundRect">
            <a:avLst>
              <a:gd name="adj" fmla="val 35555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14977" y="5924549"/>
            <a:ext cx="857228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862F"/>
                </a:solidFill>
                <a:latin typeface="Inter"/>
              </a:rPr>
              <a:t>NLTK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86502" y="5924549"/>
            <a:ext cx="1409664" cy="428625"/>
          </a:xfrm>
          <a:prstGeom prst="roundRect">
            <a:avLst>
              <a:gd name="adj" fmla="val 35555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86502" y="5924549"/>
            <a:ext cx="1409664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37DCF2"/>
                </a:solidFill>
                <a:latin typeface="Inter"/>
              </a:rPr>
              <a:t>Scikit-learn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10464" y="5924549"/>
            <a:ext cx="962000" cy="428625"/>
          </a:xfrm>
          <a:prstGeom prst="roundRect">
            <a:avLst>
              <a:gd name="adj" fmla="val 35555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10464" y="5924549"/>
            <a:ext cx="962000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862F"/>
                </a:solidFill>
                <a:latin typeface="Inter"/>
              </a:rPr>
              <a:t>SpaCy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800DBE0-A614-0122-B518-D90D8720C3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600" y="1978669"/>
            <a:ext cx="5862941" cy="4253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37DCF2">
              <a:alpha val="8000"/>
            </a:srgbClr>
          </a:solidFill>
          <a:ln w="2476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44673"/>
            <a:ext cx="380990" cy="291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71" y="104775"/>
            <a:ext cx="400992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Fine-Tuning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3316" y="171450"/>
            <a:ext cx="2228794" cy="447675"/>
          </a:xfrm>
          <a:prstGeom prst="roundRect">
            <a:avLst>
              <a:gd name="adj" fmla="val 42548936"/>
            </a:avLst>
          </a:prstGeom>
          <a:solidFill>
            <a:srgbClr val="FF862F">
              <a:alpha val="10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860" y="301942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67653" y="266699"/>
            <a:ext cx="150491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Inter"/>
              </a:rPr>
              <a:t>Instruction Tuning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" y="1162050"/>
            <a:ext cx="76198" cy="380999"/>
          </a:xfrm>
          <a:prstGeom prst="rect">
            <a:avLst/>
          </a:prstGeom>
          <a:gradFill rotWithShape="1">
            <a:gsLst>
              <a:gs pos="0">
                <a:srgbClr val="37DCF2"/>
              </a:gs>
              <a:gs pos="100000">
                <a:srgbClr val="FF862F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179" y="1133475"/>
            <a:ext cx="2705032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Poppins"/>
              </a:rPr>
              <a:t>Instruction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179" y="1714500"/>
            <a:ext cx="4648083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 Customizing model behavior through </a:t>
            </a:r>
            <a:r>
              <a:rPr sz="1196" b="1">
                <a:solidFill>
                  <a:srgbClr val="FF862F"/>
                </a:solidFill>
                <a:latin typeface="Inter"/>
              </a:rPr>
              <a:t>detailed prompts</a:t>
            </a:r>
            <a:r>
              <a:rPr sz="1196" b="0">
                <a:solidFill>
                  <a:srgbClr val="CBD5E1"/>
                </a:solidFill>
                <a:latin typeface="Inter"/>
              </a:rPr>
              <a:t> instead of modifying weights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2638010"/>
            <a:ext cx="266693" cy="1913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8179" y="3057525"/>
            <a:ext cx="4648083" cy="1409699"/>
          </a:xfrm>
          <a:prstGeom prst="roundRect">
            <a:avLst>
              <a:gd name="adj" fmla="val 21621"/>
            </a:avLst>
          </a:prstGeom>
          <a:solidFill>
            <a:srgbClr val="000000">
              <a:alpha val="3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3311338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3267075"/>
            <a:ext cx="293362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94A3B8"/>
                </a:solidFill>
              </a:rPr>
              <a:t>supabase/functions/chat/index.ts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609975"/>
            <a:ext cx="4228994" cy="647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SFMono-Regular"/>
              </a:rPr>
              <a:t> </a:t>
            </a:r>
            <a:r>
              <a:rPr sz="897" b="0">
                <a:solidFill>
                  <a:srgbClr val="FF862F"/>
                </a:solidFill>
                <a:latin typeface="SFMono-Regular"/>
              </a:rPr>
              <a:t>const</a:t>
            </a:r>
            <a:r>
              <a:rPr sz="897" b="0">
                <a:solidFill>
                  <a:srgbClr val="E2E8F0"/>
                </a:solidFill>
                <a:latin typeface="SFMono-Regular"/>
              </a:rPr>
              <a:t> </a:t>
            </a:r>
            <a:r>
              <a:rPr sz="897" b="0">
                <a:solidFill>
                  <a:srgbClr val="37DCF2"/>
                </a:solidFill>
                <a:latin typeface="SFMono-Regular"/>
              </a:rPr>
              <a:t>SYSTEM_PROMPT</a:t>
            </a:r>
            <a:r>
              <a:rPr sz="897" b="0">
                <a:solidFill>
                  <a:srgbClr val="E2E8F0"/>
                </a:solidFill>
                <a:latin typeface="SFMono-Regular"/>
              </a:rPr>
              <a:t> = </a:t>
            </a:r>
            <a:r>
              <a:rPr sz="897" b="0">
                <a:solidFill>
                  <a:srgbClr val="86EFAC"/>
                </a:solidFill>
                <a:latin typeface="SFMono-Regular"/>
              </a:rPr>
              <a:t>"You are EduVerse USA, an expert NLP-based AI study assistant </a:t>
            </a:r>
            <a:r>
              <a:rPr sz="897" b="1">
                <a:solidFill>
                  <a:srgbClr val="FF862F"/>
                </a:solidFill>
                <a:latin typeface="SFMono-Regular"/>
              </a:rPr>
              <a:t>strictly focused</a:t>
            </a:r>
            <a:r>
              <a:rPr sz="897" b="0">
                <a:solidFill>
                  <a:srgbClr val="86EFAC"/>
                </a:solidFill>
                <a:latin typeface="SFMono-Regular"/>
              </a:rPr>
              <a:t> on U.S. higher education..."</a:t>
            </a:r>
            <a:r>
              <a:rPr sz="897" b="0">
                <a:solidFill>
                  <a:srgbClr val="E2E8F0"/>
                </a:solidFill>
                <a:latin typeface="SFMono-Regular"/>
              </a:rPr>
              <a:t>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179" y="4771610"/>
            <a:ext cx="266693" cy="1913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38179" y="5191125"/>
            <a:ext cx="2266893" cy="485775"/>
          </a:xfrm>
          <a:prstGeom prst="roundRect">
            <a:avLst>
              <a:gd name="adj" fmla="val 47058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661332" y="5367972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0575" y="5338633"/>
            <a:ext cx="209544" cy="1812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6318" y="5305425"/>
            <a:ext cx="164778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</a:rPr>
              <a:t>Intent Classification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19369" y="5191125"/>
            <a:ext cx="2266893" cy="485775"/>
          </a:xfrm>
          <a:prstGeom prst="roundRect">
            <a:avLst>
              <a:gd name="adj" fmla="val 47058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042522" y="5367972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71765" y="5352792"/>
            <a:ext cx="209544" cy="1529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508" y="5305425"/>
            <a:ext cx="34289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</a:rPr>
              <a:t>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179" y="5791200"/>
            <a:ext cx="2266893" cy="742950"/>
          </a:xfrm>
          <a:prstGeom prst="roundRect">
            <a:avLst>
              <a:gd name="adj" fmla="val 30769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32744" y="6096635"/>
            <a:ext cx="742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0575" y="6080554"/>
            <a:ext cx="209544" cy="16424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76318" y="5905500"/>
            <a:ext cx="1714457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</a:rPr>
              <a:t>Context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19369" y="5791200"/>
            <a:ext cx="2266893" cy="742950"/>
          </a:xfrm>
          <a:prstGeom prst="roundRect">
            <a:avLst>
              <a:gd name="adj" fmla="val 30769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2913934" y="6096635"/>
            <a:ext cx="742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71765" y="5935877"/>
            <a:ext cx="209544" cy="18689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57508" y="5905500"/>
            <a:ext cx="157158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</a:rPr>
              <a:t>Domain Restriction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432" y="1219200"/>
            <a:ext cx="487667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FFFFFF"/>
                </a:solidFill>
                <a:latin typeface="Poppins"/>
              </a:rPr>
              <a:t>  Fine-Tuning Workflow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05432" y="1228725"/>
            <a:ext cx="76198" cy="380999"/>
          </a:xfrm>
          <a:prstGeom prst="rect">
            <a:avLst/>
          </a:prstGeom>
          <a:gradFill rotWithShape="1">
            <a:gsLst>
              <a:gs pos="0">
                <a:srgbClr val="FF862F"/>
              </a:gs>
              <a:gs pos="100000">
                <a:srgbClr val="37DCF2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934026" y="4724399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FF862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67373" y="4752974"/>
            <a:ext cx="7619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Poppin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1215" y="4724399"/>
            <a:ext cx="419089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Inter"/>
              </a:rPr>
              <a:t>Define behavior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1215" y="4991100"/>
            <a:ext cx="41908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in system prompt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34026" y="533400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8323" y="5362575"/>
            <a:ext cx="10477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Poppins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91215" y="5334000"/>
            <a:ext cx="419089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Inter"/>
              </a:rPr>
              <a:t>Apply scope restrictions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1215" y="5610224"/>
            <a:ext cx="41908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&amp; instructions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34026" y="5953124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FF862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8323" y="5981699"/>
            <a:ext cx="1142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Poppin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1215" y="5953124"/>
            <a:ext cx="419089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Inter"/>
              </a:rPr>
              <a:t>Generate contextual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91215" y="6219825"/>
            <a:ext cx="41908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grounded responses</a:t>
            </a:r>
          </a:p>
        </p:txBody>
      </p:sp>
      <p:sp>
        <p:nvSpPr>
          <p:cNvPr id="48" name="AutoShape 2">
            <a:extLst>
              <a:ext uri="{FF2B5EF4-FFF2-40B4-BE49-F238E27FC236}">
                <a16:creationId xmlns:a16="http://schemas.microsoft.com/office/drawing/2014/main" id="{CD803404-7ED9-C60B-18C9-3381232ED6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AutoShape 8">
            <a:extLst>
              <a:ext uri="{FF2B5EF4-FFF2-40B4-BE49-F238E27FC236}">
                <a16:creationId xmlns:a16="http://schemas.microsoft.com/office/drawing/2014/main" id="{E8E8A17A-D50C-FAC0-649A-0935AD97F0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C5BB396-EB60-847E-DDD8-F215667F5A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4349" y="1708200"/>
            <a:ext cx="4767761" cy="2584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37DCF2">
              <a:alpha val="8000"/>
            </a:srgbClr>
          </a:solidFill>
          <a:ln w="2476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56579"/>
            <a:ext cx="380990" cy="2678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71" y="104775"/>
            <a:ext cx="488620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Frontend &amp;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67533" y="171450"/>
            <a:ext cx="2914577" cy="447675"/>
          </a:xfrm>
          <a:prstGeom prst="roundRect">
            <a:avLst>
              <a:gd name="adj" fmla="val 42548936"/>
            </a:avLst>
          </a:prstGeom>
          <a:solidFill>
            <a:srgbClr val="FF862F">
              <a:alpha val="10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7078" y="327659"/>
            <a:ext cx="228594" cy="1257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1870" y="266699"/>
            <a:ext cx="219069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Inter"/>
              </a:rPr>
              <a:t>Development Environment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819435" y="838795"/>
            <a:ext cx="45719" cy="380999"/>
          </a:xfrm>
          <a:prstGeom prst="rect">
            <a:avLst/>
          </a:prstGeom>
          <a:gradFill rotWithShape="1">
            <a:gsLst>
              <a:gs pos="0">
                <a:srgbClr val="37DCF2"/>
              </a:gs>
              <a:gs pos="100000">
                <a:srgbClr val="FF862F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178" y="776287"/>
            <a:ext cx="3886102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Poppins"/>
              </a:rPr>
              <a:t>Loveable Cloud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179" y="1038224"/>
            <a:ext cx="4648083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 React-based chat interface with </a:t>
            </a:r>
            <a:r>
              <a:rPr sz="1196" b="1">
                <a:solidFill>
                  <a:srgbClr val="37DCF2"/>
                </a:solidFill>
                <a:latin typeface="Inter"/>
              </a:rPr>
              <a:t>real-time streaming</a:t>
            </a:r>
            <a:r>
              <a:rPr sz="1196" b="0">
                <a:solidFill>
                  <a:srgbClr val="CBD5E1"/>
                </a:solidFill>
                <a:latin typeface="Inter"/>
              </a:rPr>
              <a:t> capabilities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1944342"/>
            <a:ext cx="266693" cy="2261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8179" y="2381250"/>
            <a:ext cx="2266893" cy="1114425"/>
          </a:xfrm>
          <a:prstGeom prst="roundRect">
            <a:avLst>
              <a:gd name="adj" fmla="val 20512"/>
            </a:avLst>
          </a:prstGeom>
          <a:solidFill>
            <a:srgbClr val="FF862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347007" y="2872422"/>
            <a:ext cx="1114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674" y="2691765"/>
            <a:ext cx="228594" cy="2171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2533649"/>
            <a:ext cx="1619209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Inter"/>
              </a:rPr>
              <a:t>Real-time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674" y="3114675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Instant responses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9369" y="2381250"/>
            <a:ext cx="2266893" cy="1114425"/>
          </a:xfrm>
          <a:prstGeom prst="roundRect">
            <a:avLst>
              <a:gd name="adj" fmla="val 20512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728197" y="2872422"/>
            <a:ext cx="1114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9864" y="2578417"/>
            <a:ext cx="228594" cy="1771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14657" y="2533649"/>
            <a:ext cx="131441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Inter"/>
              </a:rP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9864" y="2838450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Secure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179" y="3609975"/>
            <a:ext cx="2266893" cy="847724"/>
          </a:xfrm>
          <a:prstGeom prst="roundRect">
            <a:avLst>
              <a:gd name="adj" fmla="val 26966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480357" y="3967797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8674" y="3798570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33466" y="3762374"/>
            <a:ext cx="1104872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Inter"/>
              </a:rPr>
              <a:t>Chat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674" y="4067174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Persistent storage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19369" y="3609975"/>
            <a:ext cx="2266893" cy="847724"/>
          </a:xfrm>
          <a:prstGeom prst="roundRect">
            <a:avLst>
              <a:gd name="adj" fmla="val 26966"/>
            </a:avLst>
          </a:prstGeom>
          <a:solidFill>
            <a:srgbClr val="FF862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2861547" y="3967797"/>
            <a:ext cx="847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09864" y="3807142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714657" y="3762374"/>
            <a:ext cx="147633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FFFF"/>
                </a:solidFill>
                <a:latin typeface="Inter"/>
              </a:rPr>
              <a:t>Dark/Light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9864" y="4067174"/>
            <a:ext cx="19240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</a:rPr>
              <a:t>Toggle themes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8179" y="4733717"/>
            <a:ext cx="266693" cy="22901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19436" y="4962525"/>
            <a:ext cx="4514430" cy="1790700"/>
          </a:xfrm>
          <a:prstGeom prst="roundRect">
            <a:avLst>
              <a:gd name="adj" fmla="val 14746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28674" y="5029201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26575" y="5146128"/>
            <a:ext cx="342891" cy="2423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17110" y="4962525"/>
            <a:ext cx="236214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</a:rPr>
              <a:t>Sanbaze (Supabase)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7110" y="5305425"/>
            <a:ext cx="236214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</a:rPr>
              <a:t>Database &amp; Backend Service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376" y="5767388"/>
            <a:ext cx="1295367" cy="409574"/>
          </a:xfrm>
          <a:prstGeom prst="roundRect">
            <a:avLst>
              <a:gd name="adj" fmla="val 37209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1327" y="5715001"/>
            <a:ext cx="1295367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862F"/>
                </a:solidFill>
                <a:latin typeface="Inter"/>
              </a:rPr>
              <a:t>PostgreSQL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5659" y="5767388"/>
            <a:ext cx="1590635" cy="409574"/>
          </a:xfrm>
          <a:prstGeom prst="roundRect">
            <a:avLst>
              <a:gd name="adj" fmla="val 37209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02893" y="5715001"/>
            <a:ext cx="1590635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Inter"/>
              </a:rPr>
              <a:t>Edge Functions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6540" y="6272892"/>
            <a:ext cx="1581110" cy="409574"/>
          </a:xfrm>
          <a:prstGeom prst="roundRect">
            <a:avLst>
              <a:gd name="adj" fmla="val 37209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26575" y="6267449"/>
            <a:ext cx="1581110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862F"/>
                </a:solidFill>
                <a:latin typeface="Inter"/>
              </a:rPr>
              <a:t>Real-time Sync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5432" y="1190625"/>
            <a:ext cx="487667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FFFFFF"/>
                </a:solidFill>
                <a:latin typeface="Poppins"/>
              </a:rPr>
              <a:t>  Chatbot Interface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05432" y="1200150"/>
            <a:ext cx="76198" cy="380999"/>
          </a:xfrm>
          <a:prstGeom prst="rect">
            <a:avLst/>
          </a:prstGeom>
          <a:gradFill rotWithShape="1">
            <a:gsLst>
              <a:gs pos="0">
                <a:srgbClr val="FF862F"/>
              </a:gs>
              <a:gs pos="100000">
                <a:srgbClr val="37DCF2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705432" y="5448300"/>
            <a:ext cx="4876678" cy="1028700"/>
          </a:xfrm>
          <a:prstGeom prst="roundRect">
            <a:avLst>
              <a:gd name="adj" fmla="val 29629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914977" y="5715000"/>
            <a:ext cx="495287" cy="495299"/>
          </a:xfrm>
          <a:prstGeom prst="roundRect">
            <a:avLst>
              <a:gd name="adj" fmla="val 46153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10224" y="5854211"/>
            <a:ext cx="304792" cy="21687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562660" y="5657850"/>
            <a:ext cx="216212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Inter"/>
              </a:rPr>
              <a:t>Loveable Cloud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62660" y="6010274"/>
            <a:ext cx="216212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</a:rPr>
              <a:t>Development Environment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877278" y="59055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1067773" y="59055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1258268" y="59055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130F1B0-4BAF-9CBA-88C0-21A368792C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6598" y="1779848"/>
            <a:ext cx="6027908" cy="32493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FF862F">
              <a:alpha val="8000"/>
            </a:srgbClr>
          </a:solidFill>
          <a:ln w="24765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44673"/>
            <a:ext cx="380990" cy="291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71" y="104775"/>
            <a:ext cx="220974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0959" y="171450"/>
            <a:ext cx="1981150" cy="447675"/>
          </a:xfrm>
          <a:prstGeom prst="roundRect">
            <a:avLst>
              <a:gd name="adj" fmla="val 42548936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504" y="301942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15297" y="266699"/>
            <a:ext cx="125726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Inter"/>
              </a:rPr>
              <a:t>University UCP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" y="923924"/>
            <a:ext cx="76198" cy="380999"/>
          </a:xfrm>
          <a:prstGeom prst="rect">
            <a:avLst/>
          </a:prstGeom>
          <a:gradFill rotWithShape="1">
            <a:gsLst>
              <a:gs pos="0">
                <a:srgbClr val="FF862F"/>
              </a:gs>
              <a:gs pos="100000">
                <a:srgbClr val="37DCF2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179" y="885825"/>
            <a:ext cx="3447963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Poppins"/>
              </a:rPr>
              <a:t>Project Achievements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179" y="1533525"/>
            <a:ext cx="5867253" cy="609600"/>
          </a:xfrm>
          <a:prstGeom prst="roundRect">
            <a:avLst>
              <a:gd name="adj" fmla="val 37500"/>
            </a:avLst>
          </a:prstGeom>
          <a:solidFill>
            <a:srgbClr val="FF862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99419" y="17722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1744317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09664" y="1685925"/>
            <a:ext cx="447663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Complete NLP pipeline with 6 Jupyter notebooks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179" y="2295525"/>
            <a:ext cx="5867253" cy="876299"/>
          </a:xfrm>
          <a:prstGeom prst="roundRect">
            <a:avLst>
              <a:gd name="adj" fmla="val 26086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66070" y="2667634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674" y="2506317"/>
            <a:ext cx="266693" cy="2261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09664" y="2447924"/>
            <a:ext cx="5143371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Responsive React chat interface with real-time streaming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179" y="3324225"/>
            <a:ext cx="5867253" cy="609600"/>
          </a:xfrm>
          <a:prstGeom prst="roundRect">
            <a:avLst>
              <a:gd name="adj" fmla="val 37500"/>
            </a:avLst>
          </a:prstGeom>
          <a:solidFill>
            <a:srgbClr val="FF862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99419" y="35629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3535017"/>
            <a:ext cx="266693" cy="2261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09664" y="3476624"/>
            <a:ext cx="481952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LLM integration with custom fine-tuning via prompts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179" y="4086225"/>
            <a:ext cx="5867253" cy="609600"/>
          </a:xfrm>
          <a:prstGeom prst="roundRect">
            <a:avLst>
              <a:gd name="adj" fmla="val 37500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99419" y="43249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674" y="4297017"/>
            <a:ext cx="266693" cy="226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09664" y="4238624"/>
            <a:ext cx="509574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</a:rPr>
              <a:t>Loveable cloud development with Supabase integration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179" y="5064369"/>
            <a:ext cx="304792" cy="272561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38179" y="5591175"/>
            <a:ext cx="781030" cy="542925"/>
          </a:xfrm>
          <a:prstGeom prst="roundRect">
            <a:avLst>
              <a:gd name="adj" fmla="val 42105"/>
            </a:avLst>
          </a:prstGeom>
          <a:solidFill>
            <a:srgbClr val="FF862F">
              <a:alpha val="12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8179" y="5591175"/>
            <a:ext cx="781030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862F"/>
                </a:solidFill>
                <a:latin typeface="Inter"/>
              </a:rPr>
              <a:t>NLP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33506" y="5591175"/>
            <a:ext cx="2104972" cy="542925"/>
          </a:xfrm>
          <a:prstGeom prst="roundRect">
            <a:avLst>
              <a:gd name="adj" fmla="val 42105"/>
            </a:avLst>
          </a:prstGeom>
          <a:solidFill>
            <a:srgbClr val="37DCF2">
              <a:alpha val="12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33506" y="5591175"/>
            <a:ext cx="2104972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37DCF2"/>
                </a:solidFill>
                <a:latin typeface="Inter"/>
              </a:rPr>
              <a:t>React + TypeScript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43251" y="5591175"/>
            <a:ext cx="1533486" cy="542925"/>
          </a:xfrm>
          <a:prstGeom prst="roundRect">
            <a:avLst>
              <a:gd name="adj" fmla="val 42105"/>
            </a:avLst>
          </a:prstGeom>
          <a:solidFill>
            <a:srgbClr val="FF862F">
              <a:alpha val="12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43251" y="5591175"/>
            <a:ext cx="1533486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862F"/>
                </a:solidFill>
                <a:latin typeface="Inter"/>
              </a:rPr>
              <a:t>Python &amp; 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179" y="6248400"/>
            <a:ext cx="1800179" cy="542925"/>
          </a:xfrm>
          <a:prstGeom prst="roundRect">
            <a:avLst>
              <a:gd name="adj" fmla="val 42105"/>
            </a:avLst>
          </a:prstGeom>
          <a:solidFill>
            <a:srgbClr val="37DCF2">
              <a:alpha val="12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8179" y="6248400"/>
            <a:ext cx="1800179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37DCF2"/>
                </a:solidFill>
                <a:latin typeface="Inter"/>
              </a:rPr>
              <a:t>LLM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52656" y="6248400"/>
            <a:ext cx="1781130" cy="542925"/>
          </a:xfrm>
          <a:prstGeom prst="roundRect">
            <a:avLst>
              <a:gd name="adj" fmla="val 42105"/>
            </a:avLst>
          </a:prstGeom>
          <a:solidFill>
            <a:srgbClr val="FF862F">
              <a:alpha val="12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52656" y="6248400"/>
            <a:ext cx="1781130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1">
                <a:solidFill>
                  <a:srgbClr val="FF862F"/>
                </a:solidFill>
                <a:latin typeface="Inter"/>
              </a:rPr>
              <a:t>Loveable Cloud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4601" y="1352549"/>
            <a:ext cx="3657508" cy="3381375"/>
          </a:xfrm>
          <a:prstGeom prst="roundRect">
            <a:avLst>
              <a:gd name="adj" fmla="val 9014"/>
            </a:avLst>
          </a:prstGeom>
          <a:gradFill rotWithShape="1">
            <a:gsLst>
              <a:gs pos="0">
                <a:srgbClr val="FF862F">
                  <a:alpha val="12000"/>
                </a:srgbClr>
              </a:gs>
              <a:gs pos="100000">
                <a:srgbClr val="37DCF2">
                  <a:alpha val="12000"/>
                </a:srgbClr>
              </a:gs>
            </a:gsLst>
            <a:lin ang="8100000" scaled="0"/>
          </a:gradFill>
          <a:ln w="24765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57968" y="1768862"/>
            <a:ext cx="495287" cy="3865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05652" y="1695449"/>
            <a:ext cx="2114497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70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FFFFFF"/>
                </a:solidFill>
                <a:latin typeface="Poppins"/>
              </a:rPr>
              <a:t>Thank You!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968" y="2457450"/>
            <a:ext cx="2990775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Inter"/>
              </a:rPr>
              <a:t>Muhammad Zafar UL Haq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968" y="3314700"/>
            <a:ext cx="299077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780"/>
              </a:spcBef>
              <a:spcAft>
                <a:spcPts val="0"/>
              </a:spcAft>
            </a:pPr>
            <a:r>
              <a:rPr sz="1315" b="1">
                <a:solidFill>
                  <a:srgbClr val="37DCF2"/>
                </a:solidFill>
                <a:latin typeface="Inter"/>
              </a:rPr>
              <a:t>University UCP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968" y="3752849"/>
            <a:ext cx="299077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136" b="0">
                <a:solidFill>
                  <a:srgbClr val="94A3B8"/>
                </a:solidFill>
                <a:latin typeface="Inter"/>
              </a:rPr>
              <a:t>NLP Course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968" y="4133849"/>
            <a:ext cx="299077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136" b="0">
                <a:solidFill>
                  <a:srgbClr val="94A3B8"/>
                </a:solidFill>
                <a:latin typeface="Inter"/>
              </a:rPr>
              <a:t>EduVerse USA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24601" y="5048250"/>
            <a:ext cx="3657508" cy="1266824"/>
          </a:xfrm>
          <a:prstGeom prst="roundRect">
            <a:avLst>
              <a:gd name="adj" fmla="val 24060"/>
            </a:avLst>
          </a:prstGeom>
          <a:solidFill>
            <a:srgbClr val="FFFFFF">
              <a:alpha val="3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72245" y="5547946"/>
            <a:ext cx="304792" cy="2579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591335" y="5295899"/>
            <a:ext cx="2743131" cy="7715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Inter"/>
              </a:rPr>
              <a:t> Developed using </a:t>
            </a:r>
            <a:r>
              <a:rPr sz="1076" b="1">
                <a:solidFill>
                  <a:srgbClr val="FF862F"/>
                </a:solidFill>
                <a:latin typeface="Inter"/>
              </a:rPr>
              <a:t>Loveable Cloud</a:t>
            </a:r>
            <a:r>
              <a:rPr sz="1076" b="0">
                <a:solidFill>
                  <a:srgbClr val="CBD5E1"/>
                </a:solidFill>
                <a:latin typeface="Inter"/>
              </a:rPr>
              <a:t> for frontend and </a:t>
            </a:r>
            <a:r>
              <a:rPr sz="1076" b="1">
                <a:solidFill>
                  <a:srgbClr val="37DCF2"/>
                </a:solidFill>
                <a:latin typeface="Inter"/>
              </a:rPr>
              <a:t>Supabase</a:t>
            </a:r>
            <a:r>
              <a:rPr sz="1076" b="0">
                <a:solidFill>
                  <a:srgbClr val="CBD5E1"/>
                </a:solidFill>
                <a:latin typeface="Inter"/>
              </a:rPr>
              <a:t> for backend integration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427</Words>
  <Application>Microsoft Macintosh PowerPoint</Application>
  <PresentationFormat>Widescreen</PresentationFormat>
  <Paragraphs>142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Poppins</vt:lpstr>
      <vt:lpstr>SFMono-Regular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L1F22BSCS0193- MUHAMMAD ZAFAR UL HAQ</cp:lastModifiedBy>
  <cp:revision>4</cp:revision>
  <dcterms:created xsi:type="dcterms:W3CDTF">2013-01-27T09:14:16Z</dcterms:created>
  <dcterms:modified xsi:type="dcterms:W3CDTF">2025-12-30T16:54:43Z</dcterms:modified>
  <cp:category/>
</cp:coreProperties>
</file>